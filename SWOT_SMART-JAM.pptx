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35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6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84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SMART-JAM project slides (user-provided): SMART-JAM.pptx
- Requirements overview (user-provided): Pitch Deck.pptx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7E4497-ADF3-D774-15A9-13BFF2E691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6F4E5-39CC-FE9A-8697-598A7B56C705}"/>
              </a:ext>
            </a:extLst>
          </p:cNvPr>
          <p:cNvSpPr txBox="1"/>
          <p:nvPr/>
        </p:nvSpPr>
        <p:spPr>
          <a:xfrm>
            <a:off x="1508342" y="1678488"/>
            <a:ext cx="91753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W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endParaRPr lang="en-US" sz="9600" dirty="0">
              <a:latin typeface="+mj-lt"/>
            </a:endParaRPr>
          </a:p>
          <a:p>
            <a:pPr algn="ctr"/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L</a:t>
            </a:r>
            <a:r>
              <a:rPr lang="en-GB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Ý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Z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endParaRPr lang="en-US" sz="9600" dirty="0">
              <a:latin typeface="+mj-lt"/>
            </a:endParaRPr>
          </a:p>
        </p:txBody>
      </p:sp>
      <p:pic>
        <p:nvPicPr>
          <p:cNvPr id="1026" name="Picture 2" descr="SWOT: Strengths, Weaknesses, Opportunities, Threats">
            <a:extLst>
              <a:ext uri="{FF2B5EF4-FFF2-40B4-BE49-F238E27FC236}">
                <a16:creationId xmlns:a16="http://schemas.microsoft.com/office/drawing/2014/main" id="{23651CEA-4C94-3BF5-F281-5854814ED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73" y="103909"/>
            <a:ext cx="3619885" cy="332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48A8A3-F597-467C-28D1-5EF70AE1D737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238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6792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3679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32027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7E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200" dirty="0"/>
          </a:p>
        </p:txBody>
      </p:sp>
      <p:sp>
        <p:nvSpPr>
          <p:cNvPr id="12" name="Text 10"/>
          <p:cNvSpPr/>
          <p:nvPr/>
        </p:nvSpPr>
        <p:spPr>
          <a:xfrm>
            <a:off x="34290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200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74C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93726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E8C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7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Practical value for users</a:t>
            </a:r>
            <a:endParaRPr lang="uk-UA" sz="1600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Clear problem focus</a:t>
            </a:r>
            <a:endParaRPr lang="uk-UA" sz="1600" b="1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Data-driven approach</a:t>
            </a:r>
            <a:endParaRPr lang="uk-UA" sz="1600" b="1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User-oriented design 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Scalable concept</a:t>
            </a:r>
          </a:p>
        </p:txBody>
      </p:sp>
      <p:sp>
        <p:nvSpPr>
          <p:cNvPr id="19" name="Shape 17"/>
          <p:cNvSpPr/>
          <p:nvPr/>
        </p:nvSpPr>
        <p:spPr>
          <a:xfrm>
            <a:off x="34290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935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5935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Dependence on data quality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Limited historical data (early stage)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Model complexity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Potential performance issues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User trust challenge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53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Growing smart-city initiatives</a:t>
            </a:r>
            <a:endParaRPr lang="en-US" sz="1600" b="1" dirty="0">
              <a:solidFill>
                <a:srgbClr val="384152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Integration with navigation platforms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Increasing demand for mobility tools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Expansion to public transport analytics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Academic and research potential</a:t>
            </a:r>
          </a:p>
        </p:txBody>
      </p:sp>
      <p:sp>
        <p:nvSpPr>
          <p:cNvPr id="27" name="Shape 25"/>
          <p:cNvSpPr/>
          <p:nvPr/>
        </p:nvSpPr>
        <p:spPr>
          <a:xfrm>
            <a:off x="93726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371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E8C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r>
              <a:rPr lang="en-US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5371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554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Strong competition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Data access restrictions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Rapid changes in traffic patterns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Privacy and regulation concerns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Technology expectations</a:t>
            </a:r>
          </a:p>
          <a:p>
            <a:pPr>
              <a:spcAft>
                <a:spcPts val="600"/>
              </a:spcAft>
              <a:buSzPct val="100000"/>
            </a:pP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F56AD7-D583-3720-01A0-744A7659D044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1AA67-9253-203E-F0BB-8F09EA5C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BD1CDD-C620-024D-3612-A9C63A137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Shape 13">
            <a:extLst>
              <a:ext uri="{FF2B5EF4-FFF2-40B4-BE49-F238E27FC236}">
                <a16:creationId xmlns:a16="http://schemas.microsoft.com/office/drawing/2014/main" id="{6EB96F44-5DF6-34E0-B474-24CF828AF39D}"/>
              </a:ext>
            </a:extLst>
          </p:cNvPr>
          <p:cNvSpPr/>
          <p:nvPr/>
        </p:nvSpPr>
        <p:spPr>
          <a:xfrm>
            <a:off x="4572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A7F2607B-9EDE-CA25-95DE-6AA47E351D19}"/>
              </a:ext>
            </a:extLst>
          </p:cNvPr>
          <p:cNvSpPr/>
          <p:nvPr/>
        </p:nvSpPr>
        <p:spPr>
          <a:xfrm>
            <a:off x="6400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Practical value for users</a:t>
            </a:r>
            <a:endParaRPr lang="uk-UA" sz="1400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Clear problem focus</a:t>
            </a:r>
            <a:endParaRPr lang="uk-UA" sz="1600" b="1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Data-driven approach</a:t>
            </a:r>
            <a:endParaRPr lang="uk-UA" sz="1600" b="1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User-oriented design 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Scalable concept</a:t>
            </a:r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DF4546EA-DB78-324E-075B-96D76C025A29}"/>
              </a:ext>
            </a:extLst>
          </p:cNvPr>
          <p:cNvSpPr/>
          <p:nvPr/>
        </p:nvSpPr>
        <p:spPr>
          <a:xfrm>
            <a:off x="6217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Shape 15">
            <a:extLst>
              <a:ext uri="{FF2B5EF4-FFF2-40B4-BE49-F238E27FC236}">
                <a16:creationId xmlns:a16="http://schemas.microsoft.com/office/drawing/2014/main" id="{C072612A-D5FA-443F-6D51-08114033332B}"/>
              </a:ext>
            </a:extLst>
          </p:cNvPr>
          <p:cNvSpPr/>
          <p:nvPr/>
        </p:nvSpPr>
        <p:spPr>
          <a:xfrm>
            <a:off x="6217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E2DAFB6-03CA-449A-2445-1E8F312400F4}"/>
              </a:ext>
            </a:extLst>
          </p:cNvPr>
          <p:cNvSpPr/>
          <p:nvPr/>
        </p:nvSpPr>
        <p:spPr>
          <a:xfrm>
            <a:off x="45720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CB143825-4AA8-DF74-5DD7-E4A64B9ED6F8}"/>
              </a:ext>
            </a:extLst>
          </p:cNvPr>
          <p:cNvSpPr/>
          <p:nvPr/>
        </p:nvSpPr>
        <p:spPr>
          <a:xfrm>
            <a:off x="4572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7E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C01DA0D-1651-0F8F-1962-6FDE08BEE91F}"/>
              </a:ext>
            </a:extLst>
          </p:cNvPr>
          <p:cNvSpPr/>
          <p:nvPr/>
        </p:nvSpPr>
        <p:spPr>
          <a:xfrm>
            <a:off x="868680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0A7C4BB-7F5F-BE4A-3B46-68C9E7A7F503}"/>
              </a:ext>
            </a:extLst>
          </p:cNvPr>
          <p:cNvSpPr/>
          <p:nvPr/>
        </p:nvSpPr>
        <p:spPr>
          <a:xfrm>
            <a:off x="86868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FF4B3A27-C674-1777-882F-BE4A61C5DC52}"/>
              </a:ext>
            </a:extLst>
          </p:cNvPr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800" dirty="0"/>
          </a:p>
        </p:txBody>
      </p:sp>
      <p:pic>
        <p:nvPicPr>
          <p:cNvPr id="2050" name="Picture 2" descr="How can you develop a Data Driven approach in your organization?">
            <a:extLst>
              <a:ext uri="{FF2B5EF4-FFF2-40B4-BE49-F238E27FC236}">
                <a16:creationId xmlns:a16="http://schemas.microsoft.com/office/drawing/2014/main" id="{7F786655-97AB-86FA-3AEE-2C71743F0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403" y="1088137"/>
            <a:ext cx="648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595288-4984-6F28-D811-FC1869D677D9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821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>
            <a:extLst>
              <a:ext uri="{FF2B5EF4-FFF2-40B4-BE49-F238E27FC236}">
                <a16:creationId xmlns:a16="http://schemas.microsoft.com/office/drawing/2014/main" id="{BBE871CE-BA01-0E75-4D08-DF537084C3F8}"/>
              </a:ext>
            </a:extLst>
          </p:cNvPr>
          <p:cNvSpPr/>
          <p:nvPr/>
        </p:nvSpPr>
        <p:spPr>
          <a:xfrm>
            <a:off x="34290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200" dirty="0"/>
          </a:p>
        </p:txBody>
      </p:sp>
      <p:sp>
        <p:nvSpPr>
          <p:cNvPr id="3" name="Shape 17">
            <a:extLst>
              <a:ext uri="{FF2B5EF4-FFF2-40B4-BE49-F238E27FC236}">
                <a16:creationId xmlns:a16="http://schemas.microsoft.com/office/drawing/2014/main" id="{886ACE67-C812-3AFC-EF53-CF49BDB65549}"/>
              </a:ext>
            </a:extLst>
          </p:cNvPr>
          <p:cNvSpPr/>
          <p:nvPr/>
        </p:nvSpPr>
        <p:spPr>
          <a:xfrm>
            <a:off x="34290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CB12E5BD-953E-5AB8-808F-4AF83CEFAC4C}"/>
              </a:ext>
            </a:extLst>
          </p:cNvPr>
          <p:cNvSpPr/>
          <p:nvPr/>
        </p:nvSpPr>
        <p:spPr>
          <a:xfrm>
            <a:off x="35935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dirty="0"/>
          </a:p>
        </p:txBody>
      </p:sp>
      <p:sp>
        <p:nvSpPr>
          <p:cNvPr id="5" name="Shape 19">
            <a:extLst>
              <a:ext uri="{FF2B5EF4-FFF2-40B4-BE49-F238E27FC236}">
                <a16:creationId xmlns:a16="http://schemas.microsoft.com/office/drawing/2014/main" id="{6FFA45EA-3DCB-B848-2639-265C937704F8}"/>
              </a:ext>
            </a:extLst>
          </p:cNvPr>
          <p:cNvSpPr/>
          <p:nvPr/>
        </p:nvSpPr>
        <p:spPr>
          <a:xfrm>
            <a:off x="35935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0">
            <a:extLst>
              <a:ext uri="{FF2B5EF4-FFF2-40B4-BE49-F238E27FC236}">
                <a16:creationId xmlns:a16="http://schemas.microsoft.com/office/drawing/2014/main" id="{5C1BBADB-E14C-B829-E739-DE188913BBF8}"/>
              </a:ext>
            </a:extLst>
          </p:cNvPr>
          <p:cNvSpPr/>
          <p:nvPr/>
        </p:nvSpPr>
        <p:spPr>
          <a:xfrm>
            <a:off x="36118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Dependence on data quality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Limited historical data (early stage)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Model complexity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Potential performance issues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User trust challenge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0F885D7-E78A-66F7-2921-3F78852F7532}"/>
              </a:ext>
            </a:extLst>
          </p:cNvPr>
          <p:cNvSpPr/>
          <p:nvPr/>
        </p:nvSpPr>
        <p:spPr>
          <a:xfrm>
            <a:off x="868680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26CD58B-B320-67DC-C996-C7AA2D7E9745}"/>
              </a:ext>
            </a:extLst>
          </p:cNvPr>
          <p:cNvSpPr/>
          <p:nvPr/>
        </p:nvSpPr>
        <p:spPr>
          <a:xfrm>
            <a:off x="45720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20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20B85C3-6E28-5245-657B-56549127DE4E}"/>
              </a:ext>
            </a:extLst>
          </p:cNvPr>
          <p:cNvSpPr/>
          <p:nvPr/>
        </p:nvSpPr>
        <p:spPr>
          <a:xfrm>
            <a:off x="585216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6458B0F5-334E-0755-360D-AA9B5E293B13}"/>
              </a:ext>
            </a:extLst>
          </p:cNvPr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A89393-D38D-CE05-6076-D1A586E3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093" y="1252728"/>
            <a:ext cx="4286250" cy="487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2BE281-82B8-2BC6-04E8-F4C373426CA8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956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7610D75D-C696-3D0C-2F31-4742F01366A2}"/>
              </a:ext>
            </a:extLst>
          </p:cNvPr>
          <p:cNvSpPr/>
          <p:nvPr/>
        </p:nvSpPr>
        <p:spPr>
          <a:xfrm>
            <a:off x="612648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2000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972E61B-E7B2-C5F1-BF9E-820BEA9525B9}"/>
              </a:ext>
            </a:extLst>
          </p:cNvPr>
          <p:cNvSpPr/>
          <p:nvPr/>
        </p:nvSpPr>
        <p:spPr>
          <a:xfrm>
            <a:off x="6336792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DE61D3CF-DC85-5868-F218-8EF21287587F}"/>
              </a:ext>
            </a:extLst>
          </p:cNvPr>
          <p:cNvSpPr/>
          <p:nvPr/>
        </p:nvSpPr>
        <p:spPr>
          <a:xfrm>
            <a:off x="64008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74C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200" dirty="0"/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ABBBEE81-4B22-D190-6FE1-0901ED04DCE9}"/>
              </a:ext>
            </a:extLst>
          </p:cNvPr>
          <p:cNvSpPr/>
          <p:nvPr/>
        </p:nvSpPr>
        <p:spPr>
          <a:xfrm>
            <a:off x="6400800" y="1920240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2E732892-657F-7506-3BCC-660814D789EE}"/>
              </a:ext>
            </a:extLst>
          </p:cNvPr>
          <p:cNvSpPr/>
          <p:nvPr/>
        </p:nvSpPr>
        <p:spPr>
          <a:xfrm>
            <a:off x="65653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dirty="0"/>
          </a:p>
        </p:txBody>
      </p:sp>
      <p:sp>
        <p:nvSpPr>
          <p:cNvPr id="7" name="Shape 23">
            <a:extLst>
              <a:ext uri="{FF2B5EF4-FFF2-40B4-BE49-F238E27FC236}">
                <a16:creationId xmlns:a16="http://schemas.microsoft.com/office/drawing/2014/main" id="{3E9C7673-F2CB-79BF-E5AB-9BFBA3173E33}"/>
              </a:ext>
            </a:extLst>
          </p:cNvPr>
          <p:cNvSpPr/>
          <p:nvPr/>
        </p:nvSpPr>
        <p:spPr>
          <a:xfrm>
            <a:off x="65653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4">
            <a:extLst>
              <a:ext uri="{FF2B5EF4-FFF2-40B4-BE49-F238E27FC236}">
                <a16:creationId xmlns:a16="http://schemas.microsoft.com/office/drawing/2014/main" id="{5E27C822-0D96-AE8A-3BCB-590B71CA73AF}"/>
              </a:ext>
            </a:extLst>
          </p:cNvPr>
          <p:cNvSpPr/>
          <p:nvPr/>
        </p:nvSpPr>
        <p:spPr>
          <a:xfrm>
            <a:off x="65836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Growing smart-city initiatives</a:t>
            </a:r>
            <a:endParaRPr lang="en-US" sz="1600" b="1" dirty="0">
              <a:solidFill>
                <a:srgbClr val="384152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Integration with navigation platforms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Increasing demand for mobility tools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Expansion to public transport analytics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Academic and research potential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07B0DA3-95E3-68A9-5360-C03A3F3C9D7E}"/>
              </a:ext>
            </a:extLst>
          </p:cNvPr>
          <p:cNvSpPr/>
          <p:nvPr/>
        </p:nvSpPr>
        <p:spPr>
          <a:xfrm>
            <a:off x="633679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0CE0E9C-1401-80EC-9794-CDB095818208}"/>
              </a:ext>
            </a:extLst>
          </p:cNvPr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24A7BD-14A2-FD0D-32A5-7BA1C1667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44" y="1013181"/>
            <a:ext cx="3740211" cy="51682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E38F4F-EB5A-E751-ED05-4ED06EB12E9C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357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1C917770-37D3-541E-E424-0DAC0E739FAE}"/>
              </a:ext>
            </a:extLst>
          </p:cNvPr>
          <p:cNvSpPr/>
          <p:nvPr/>
        </p:nvSpPr>
        <p:spPr>
          <a:xfrm>
            <a:off x="612648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2000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EFF8064A-406A-23AF-71B2-EE6173A8D0EE}"/>
              </a:ext>
            </a:extLst>
          </p:cNvPr>
          <p:cNvSpPr/>
          <p:nvPr/>
        </p:nvSpPr>
        <p:spPr>
          <a:xfrm>
            <a:off x="6336792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9F7D0D2E-4560-DD00-B652-FF67559C8A81}"/>
              </a:ext>
            </a:extLst>
          </p:cNvPr>
          <p:cNvSpPr/>
          <p:nvPr/>
        </p:nvSpPr>
        <p:spPr>
          <a:xfrm>
            <a:off x="93726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E8C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200" dirty="0"/>
          </a:p>
        </p:txBody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46FEED4F-F97F-36B7-6AAB-FF10A719F38F}"/>
              </a:ext>
            </a:extLst>
          </p:cNvPr>
          <p:cNvSpPr/>
          <p:nvPr/>
        </p:nvSpPr>
        <p:spPr>
          <a:xfrm>
            <a:off x="9372600" y="1894436"/>
            <a:ext cx="2743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3E836812-6FAD-8007-CB91-5DE0DF18C416}"/>
              </a:ext>
            </a:extLst>
          </p:cNvPr>
          <p:cNvSpPr/>
          <p:nvPr/>
        </p:nvSpPr>
        <p:spPr>
          <a:xfrm>
            <a:off x="95371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E8C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86D48235-0E65-C134-144D-34A4CA09A57B}"/>
              </a:ext>
            </a:extLst>
          </p:cNvPr>
          <p:cNvSpPr/>
          <p:nvPr/>
        </p:nvSpPr>
        <p:spPr>
          <a:xfrm>
            <a:off x="9537192" y="2487168"/>
            <a:ext cx="2414016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AD5129BB-BDF8-5978-0250-ED92B3D2FFF2}"/>
              </a:ext>
            </a:extLst>
          </p:cNvPr>
          <p:cNvSpPr/>
          <p:nvPr/>
        </p:nvSpPr>
        <p:spPr>
          <a:xfrm>
            <a:off x="9550717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Strong competition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Data access restrictions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Rapid changes in traffic patterns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Privacy and regulation concerns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latin typeface="+mj-lt"/>
              </a:rPr>
              <a:t>Technology expectations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EBD8106-0A90-B6F9-47DA-2DB5D450CF6D}"/>
              </a:ext>
            </a:extLst>
          </p:cNvPr>
          <p:cNvSpPr/>
          <p:nvPr/>
        </p:nvSpPr>
        <p:spPr>
          <a:xfrm>
            <a:off x="1132027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040665-27C2-46C5-0AC2-9B2244FC8E4C}"/>
              </a:ext>
            </a:extLst>
          </p:cNvPr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2000" dirty="0"/>
          </a:p>
        </p:txBody>
      </p:sp>
      <p:pic>
        <p:nvPicPr>
          <p:cNvPr id="4098" name="Picture 2" descr="5 Biggest Data Privacy Concerns and Challenges for Business Owners -  CookieYes">
            <a:extLst>
              <a:ext uri="{FF2B5EF4-FFF2-40B4-BE49-F238E27FC236}">
                <a16:creationId xmlns:a16="http://schemas.microsoft.com/office/drawing/2014/main" id="{9BFC9101-CCF8-57C3-EFCD-05D1BE74A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23" y="1874520"/>
            <a:ext cx="7258035" cy="408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C0C121-D75A-8CA3-2D62-485CF3785062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968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514B94-01B8-D638-A6DA-050AD21913D0}"/>
              </a:ext>
            </a:extLst>
          </p:cNvPr>
          <p:cNvSpPr txBox="1"/>
          <p:nvPr/>
        </p:nvSpPr>
        <p:spPr>
          <a:xfrm>
            <a:off x="3048522" y="853691"/>
            <a:ext cx="60970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h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 f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y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u</a:t>
            </a:r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E8C07A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6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 !</a:t>
            </a:r>
            <a:endParaRPr lang="en-US" sz="96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9851B4-484E-E4BC-7E2D-786F22D52254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946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222</Words>
  <Application>Microsoft Office PowerPoint</Application>
  <PresentationFormat>Widescreen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SMART-JAM</dc:creator>
  <cp:lastModifiedBy>d</cp:lastModifiedBy>
  <cp:revision>4</cp:revision>
  <dcterms:created xsi:type="dcterms:W3CDTF">2026-02-25T09:34:47Z</dcterms:created>
  <dcterms:modified xsi:type="dcterms:W3CDTF">2026-02-26T21:22:38Z</dcterms:modified>
</cp:coreProperties>
</file>