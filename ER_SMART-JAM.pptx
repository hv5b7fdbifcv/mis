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8" r:id="rId2"/>
    <p:sldId id="264" r:id="rId3"/>
    <p:sldId id="273" r:id="rId4"/>
    <p:sldId id="275" r:id="rId5"/>
    <p:sldId id="277" r:id="rId6"/>
    <p:sldId id="278" r:id="rId7"/>
    <p:sldId id="274" r:id="rId8"/>
    <p:sldId id="276" r:id="rId9"/>
    <p:sldId id="279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CE98"/>
    <a:srgbClr val="74C7C8"/>
    <a:srgbClr val="7E8795"/>
    <a:srgbClr val="FFFFFF"/>
    <a:srgbClr val="F8FAFC"/>
    <a:srgbClr val="B078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35"/>
    <p:restoredTop sz="94610"/>
  </p:normalViewPr>
  <p:slideViewPr>
    <p:cSldViewPr snapToGrid="0" snapToObjects="1">
      <p:cViewPr>
        <p:scale>
          <a:sx n="100" d="100"/>
          <a:sy n="100" d="100"/>
        </p:scale>
        <p:origin x="268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845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7E4497-ADF3-D774-15A9-13BFF2E691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6F4E5-39CC-FE9A-8697-598A7B56C705}"/>
              </a:ext>
            </a:extLst>
          </p:cNvPr>
          <p:cNvSpPr txBox="1"/>
          <p:nvPr/>
        </p:nvSpPr>
        <p:spPr>
          <a:xfrm>
            <a:off x="1605323" y="1166842"/>
            <a:ext cx="91753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96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96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p</a:t>
            </a:r>
            <a:endParaRPr lang="en-US" sz="9600" dirty="0">
              <a:solidFill>
                <a:schemeClr val="accent2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sz="9600" b="1" dirty="0" err="1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9600" b="1" dirty="0" err="1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9600" b="1" dirty="0" err="1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9600" b="1" dirty="0" err="1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GB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96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m</a:t>
            </a:r>
            <a:endParaRPr lang="en-US" sz="9600" dirty="0">
              <a:solidFill>
                <a:srgbClr val="7E8795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8A8A3-F597-467C-28D1-5EF70AE1D737}"/>
              </a:ext>
            </a:extLst>
          </p:cNvPr>
          <p:cNvSpPr txBox="1"/>
          <p:nvPr/>
        </p:nvSpPr>
        <p:spPr>
          <a:xfrm>
            <a:off x="3144459" y="6502497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Team SMART-JAM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1028" name="Picture 4" descr="Erd Special Lineal color icon | Freepik">
            <a:extLst>
              <a:ext uri="{FF2B5EF4-FFF2-40B4-BE49-F238E27FC236}">
                <a16:creationId xmlns:a16="http://schemas.microsoft.com/office/drawing/2014/main" id="{17F20826-021A-3C61-E363-01D4A03A1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74" y="169101"/>
            <a:ext cx="2617940" cy="261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386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4386-FA22-9ABE-F002-1BDB7B10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2E68828-F2A9-A072-6795-3409DF6BA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56" y="0"/>
            <a:ext cx="6097044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E28392-9F16-3E90-458A-CA63F57D4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6DA219B-B62C-71A6-3040-9FD5194B83C2}"/>
              </a:ext>
            </a:extLst>
          </p:cNvPr>
          <p:cNvSpPr txBox="1"/>
          <p:nvPr/>
        </p:nvSpPr>
        <p:spPr>
          <a:xfrm>
            <a:off x="456156" y="1397674"/>
            <a:ext cx="506199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The </a:t>
            </a:r>
            <a:r>
              <a:rPr lang="en-US" sz="2000" b="1" dirty="0">
                <a:latin typeface="Comic Sans MS" panose="030F0702030302020204" pitchFamily="66" charset="0"/>
              </a:rPr>
              <a:t>Smart-Jam</a:t>
            </a:r>
            <a:r>
              <a:rPr lang="en-US" sz="2000" dirty="0">
                <a:latin typeface="Comic Sans MS" panose="030F0702030302020204" pitchFamily="66" charset="0"/>
              </a:rPr>
              <a:t> database is designed to support the collection, storage, and analysis of traffic-related data for short-term traffic congestion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It stores information about monitored </a:t>
            </a:r>
            <a:r>
              <a:rPr lang="en-US" sz="2000" b="1" dirty="0">
                <a:latin typeface="Comic Sans MS" panose="030F0702030302020204" pitchFamily="66" charset="0"/>
              </a:rPr>
              <a:t>locations</a:t>
            </a:r>
            <a:r>
              <a:rPr lang="en-US" sz="2000" dirty="0">
                <a:latin typeface="Comic Sans MS" panose="030F0702030302020204" pitchFamily="66" charset="0"/>
              </a:rPr>
              <a:t>, real </a:t>
            </a:r>
            <a:r>
              <a:rPr lang="en-US" sz="2000" b="1" dirty="0">
                <a:latin typeface="Comic Sans MS" panose="030F0702030302020204" pitchFamily="66" charset="0"/>
              </a:rPr>
              <a:t>traffic observations</a:t>
            </a:r>
            <a:r>
              <a:rPr lang="en-US" sz="2000" dirty="0">
                <a:latin typeface="Comic Sans MS" panose="030F0702030302020204" pitchFamily="66" charset="0"/>
              </a:rPr>
              <a:t>, </a:t>
            </a:r>
            <a:r>
              <a:rPr lang="en-US" sz="2000" b="1" dirty="0">
                <a:latin typeface="Comic Sans MS" panose="030F0702030302020204" pitchFamily="66" charset="0"/>
              </a:rPr>
              <a:t>weather conditions</a:t>
            </a:r>
            <a:r>
              <a:rPr lang="en-US" sz="2000" dirty="0">
                <a:latin typeface="Comic Sans MS" panose="030F0702030302020204" pitchFamily="66" charset="0"/>
              </a:rPr>
              <a:t>, </a:t>
            </a:r>
            <a:r>
              <a:rPr lang="en-US" sz="2000" b="1" dirty="0">
                <a:latin typeface="Comic Sans MS" panose="030F0702030302020204" pitchFamily="66" charset="0"/>
              </a:rPr>
              <a:t>incidents</a:t>
            </a:r>
            <a:r>
              <a:rPr lang="en-US" sz="2000" dirty="0">
                <a:latin typeface="Comic Sans MS" panose="030F0702030302020204" pitchFamily="66" charset="0"/>
              </a:rPr>
              <a:t> affecting traffic flow, machine learning </a:t>
            </a:r>
            <a:r>
              <a:rPr lang="en-US" sz="2000" b="1" dirty="0">
                <a:latin typeface="Comic Sans MS" panose="030F0702030302020204" pitchFamily="66" charset="0"/>
              </a:rPr>
              <a:t>models</a:t>
            </a:r>
            <a:r>
              <a:rPr lang="en-US" sz="2000" dirty="0">
                <a:latin typeface="Comic Sans MS" panose="030F0702030302020204" pitchFamily="66" charset="0"/>
              </a:rPr>
              <a:t>, and generated </a:t>
            </a:r>
            <a:r>
              <a:rPr lang="en-US" sz="2000" b="1" dirty="0">
                <a:latin typeface="Comic Sans MS" panose="030F0702030302020204" pitchFamily="66" charset="0"/>
              </a:rPr>
              <a:t>predictions</a:t>
            </a:r>
            <a:r>
              <a:rPr lang="en-US" sz="2000" dirty="0">
                <a:latin typeface="Comic Sans MS" panose="030F0702030302020204" pitchFamily="66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D3DE9F91-36CA-01AD-2AD3-41C817466B69}"/>
              </a:ext>
            </a:extLst>
          </p:cNvPr>
          <p:cNvSpPr/>
          <p:nvPr/>
        </p:nvSpPr>
        <p:spPr>
          <a:xfrm>
            <a:off x="1751499" y="709127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rgbClr val="1F2937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>
              <a:solidFill>
                <a:srgbClr val="74C7C8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520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76C9-3771-CE67-1B1D-EDE71F96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4024699-1306-4A95-1730-183C9D677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441B45-9DD0-C845-2F1D-DAEB7A078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0466" y="87683"/>
            <a:ext cx="648085" cy="6712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37E63C-273F-9F17-2EDB-D50964C5F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-3600450"/>
            <a:ext cx="9199383" cy="1188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443881-F0A1-0CFD-2813-F0CA635DC22B}"/>
              </a:ext>
            </a:extLst>
          </p:cNvPr>
          <p:cNvSpPr txBox="1"/>
          <p:nvPr/>
        </p:nvSpPr>
        <p:spPr>
          <a:xfrm>
            <a:off x="306930" y="1323887"/>
            <a:ext cx="5360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stores information about monitored road locations, including the location name, city, and geographic coordinates.</a:t>
            </a:r>
            <a:r>
              <a:rPr lang="en-GB" sz="20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0415AF-032B-DF3F-7845-F1C364C8A0F3}"/>
              </a:ext>
            </a:extLst>
          </p:cNvPr>
          <p:cNvSpPr txBox="1"/>
          <p:nvPr/>
        </p:nvSpPr>
        <p:spPr>
          <a:xfrm>
            <a:off x="306930" y="4244608"/>
            <a:ext cx="61245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Comic Sans MS" panose="030F0702030302020204" pitchFamily="66" charset="0"/>
              </a:rPr>
              <a:t>Cardinality summary  &gt;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location → </a:t>
            </a:r>
            <a:r>
              <a:rPr lang="en-US" sz="2000" dirty="0" err="1">
                <a:latin typeface="Comic Sans MS" panose="030F0702030302020204" pitchFamily="66" charset="0"/>
              </a:rPr>
              <a:t>traffic_observation</a:t>
            </a:r>
            <a:r>
              <a:rPr lang="en-US" sz="2000" dirty="0">
                <a:latin typeface="Comic Sans MS" panose="030F0702030302020204" pitchFamily="66" charset="0"/>
              </a:rPr>
              <a:t> = </a:t>
            </a:r>
            <a:r>
              <a:rPr lang="en-US" sz="2000" b="1" dirty="0">
                <a:latin typeface="Comic Sans MS" panose="030F0702030302020204" pitchFamily="66" charset="0"/>
              </a:rPr>
              <a:t>1:N</a:t>
            </a:r>
            <a:endParaRPr lang="en-GB" sz="2000" dirty="0">
              <a:latin typeface="Comic Sans MS" panose="030F0702030302020204" pitchFamily="66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location → </a:t>
            </a:r>
            <a:r>
              <a:rPr lang="en-US" sz="2000" dirty="0" err="1">
                <a:latin typeface="Comic Sans MS" panose="030F0702030302020204" pitchFamily="66" charset="0"/>
              </a:rPr>
              <a:t>weather_condition</a:t>
            </a:r>
            <a:r>
              <a:rPr lang="en-US" sz="2000" dirty="0">
                <a:latin typeface="Comic Sans MS" panose="030F0702030302020204" pitchFamily="66" charset="0"/>
              </a:rPr>
              <a:t> = </a:t>
            </a:r>
            <a:r>
              <a:rPr lang="en-US" sz="2000" b="1" dirty="0">
                <a:latin typeface="Comic Sans MS" panose="030F0702030302020204" pitchFamily="66" charset="0"/>
              </a:rPr>
              <a:t>1:N</a:t>
            </a:r>
            <a:endParaRPr lang="en-GB" sz="2000" dirty="0">
              <a:latin typeface="Comic Sans MS" panose="030F0702030302020204" pitchFamily="66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location → incident = </a:t>
            </a:r>
            <a:r>
              <a:rPr lang="en-US" sz="2000" b="1" dirty="0">
                <a:latin typeface="Comic Sans MS" panose="030F0702030302020204" pitchFamily="66" charset="0"/>
              </a:rPr>
              <a:t>1:N</a:t>
            </a:r>
            <a:endParaRPr lang="en-GB" sz="2000" dirty="0">
              <a:latin typeface="Comic Sans MS" panose="030F0702030302020204" pitchFamily="66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location → prediction = </a:t>
            </a:r>
            <a:r>
              <a:rPr lang="en-US" sz="2000" b="1" dirty="0">
                <a:latin typeface="Comic Sans MS" panose="030F0702030302020204" pitchFamily="66" charset="0"/>
              </a:rPr>
              <a:t>1:N</a:t>
            </a:r>
            <a:endParaRPr lang="en-GB" sz="2000" dirty="0">
              <a:latin typeface="Comic Sans MS" panose="030F0702030302020204" pitchFamily="66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32DA8905-8594-6DF0-0649-6274E23EE2B3}"/>
              </a:ext>
            </a:extLst>
          </p:cNvPr>
          <p:cNvSpPr/>
          <p:nvPr/>
        </p:nvSpPr>
        <p:spPr>
          <a:xfrm>
            <a:off x="1599099" y="556727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>
              <a:solidFill>
                <a:srgbClr val="EDCE98"/>
              </a:solidFill>
              <a:latin typeface="Comic Sans MS" panose="030F0702030302020204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DA5B39-5C38-486E-285A-E140D8185759}"/>
              </a:ext>
            </a:extLst>
          </p:cNvPr>
          <p:cNvSpPr txBox="1"/>
          <p:nvPr/>
        </p:nvSpPr>
        <p:spPr>
          <a:xfrm>
            <a:off x="306930" y="2784247"/>
            <a:ext cx="53604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omic Sans MS" panose="030F0702030302020204" pitchFamily="66" charset="0"/>
              </a:rPr>
              <a:t>A single location can have multiple traffic observations, weather records, incidents, and predictions.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5C939ED-B775-21DD-E06C-D796FBA3F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4915" y="168250"/>
            <a:ext cx="648085" cy="67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24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F657-4CD4-E81D-7602-BCCA1A45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0032A4B-B8D7-A36F-D156-6058A6AD0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-508000"/>
            <a:ext cx="9900000" cy="118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2B389F-789C-0568-00D5-EC0FB514A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E9A5C9-96F1-0926-5E1F-91AAD7B48404}"/>
              </a:ext>
            </a:extLst>
          </p:cNvPr>
          <p:cNvSpPr txBox="1"/>
          <p:nvPr/>
        </p:nvSpPr>
        <p:spPr>
          <a:xfrm>
            <a:off x="332330" y="1517780"/>
            <a:ext cx="53096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stores weather-related data for a location and time, including temperature, precipitation, and weather type.</a:t>
            </a:r>
            <a:endParaRPr lang="en-GB" sz="2000" dirty="0">
              <a:latin typeface="Comic Sans MS" panose="030F0702030302020204" pitchFamily="66" charset="0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88BEDCD-2324-5E0A-DE16-72767F5E7A0B}"/>
              </a:ext>
            </a:extLst>
          </p:cNvPr>
          <p:cNvSpPr/>
          <p:nvPr/>
        </p:nvSpPr>
        <p:spPr>
          <a:xfrm>
            <a:off x="1751499" y="709127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800" b="1" dirty="0">
                <a:solidFill>
                  <a:srgbClr val="1F2937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>
              <a:solidFill>
                <a:srgbClr val="EDCE98"/>
              </a:solidFill>
              <a:latin typeface="Comic Sans MS" panose="030F0702030302020204" pitchFamily="66" charset="0"/>
            </a:endParaRPr>
          </a:p>
        </p:txBody>
      </p:sp>
      <p:pic>
        <p:nvPicPr>
          <p:cNvPr id="2050" name="Picture 2" descr="Weather - Free weather icons">
            <a:extLst>
              <a:ext uri="{FF2B5EF4-FFF2-40B4-BE49-F238E27FC236}">
                <a16:creationId xmlns:a16="http://schemas.microsoft.com/office/drawing/2014/main" id="{B4AA3A5E-722F-BC2C-D989-155385392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939" y="3543299"/>
            <a:ext cx="218122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530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39501-1E9F-F641-D362-C8FA1D50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97D2BD5-A5C0-2C82-AA86-268BC5B1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94"/>
          <a:stretch>
            <a:fillRect/>
          </a:stretch>
        </p:blipFill>
        <p:spPr>
          <a:xfrm>
            <a:off x="5904724" y="1701800"/>
            <a:ext cx="7796227" cy="124233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405FE8-F18C-6050-436A-BF8245F6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FC5ABE-E0B6-B77D-DFD4-52A47E942EBA}"/>
              </a:ext>
            </a:extLst>
          </p:cNvPr>
          <p:cNvSpPr txBox="1"/>
          <p:nvPr/>
        </p:nvSpPr>
        <p:spPr>
          <a:xfrm>
            <a:off x="379956" y="1294368"/>
            <a:ext cx="53604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omic Sans MS" panose="030F0702030302020204" pitchFamily="66" charset="0"/>
              </a:rPr>
              <a:t>stores information about the forecasting models used in the system, including model name, version, algorithm type, and accuracy metric.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062BB3-FEE7-9A1D-ACA3-C3C1BA4DF098}"/>
              </a:ext>
            </a:extLst>
          </p:cNvPr>
          <p:cNvSpPr txBox="1"/>
          <p:nvPr/>
        </p:nvSpPr>
        <p:spPr>
          <a:xfrm>
            <a:off x="441381" y="3075057"/>
            <a:ext cx="78676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Cardinality summary  &gt;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model → prediction = </a:t>
            </a:r>
            <a:r>
              <a:rPr lang="en-US" sz="2000" b="1" dirty="0">
                <a:latin typeface="Comic Sans MS" panose="030F0702030302020204" pitchFamily="66" charset="0"/>
              </a:rPr>
              <a:t>1:N</a:t>
            </a:r>
            <a:endParaRPr lang="en-GB" sz="2000" dirty="0">
              <a:latin typeface="Comic Sans MS" panose="030F0702030302020204" pitchFamily="66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D183B7C-2831-F98A-FFF4-0C64E053863F}"/>
              </a:ext>
            </a:extLst>
          </p:cNvPr>
          <p:cNvSpPr/>
          <p:nvPr/>
        </p:nvSpPr>
        <p:spPr>
          <a:xfrm>
            <a:off x="1599099" y="556727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>
              <a:solidFill>
                <a:srgbClr val="7E8795"/>
              </a:solidFill>
              <a:latin typeface="Comic Sans MS" panose="030F0702030302020204" pitchFamily="66" charset="0"/>
            </a:endParaRPr>
          </a:p>
        </p:txBody>
      </p:sp>
      <p:pic>
        <p:nvPicPr>
          <p:cNvPr id="6148" name="Picture 4" descr="AI - Free computer icons">
            <a:extLst>
              <a:ext uri="{FF2B5EF4-FFF2-40B4-BE49-F238E27FC236}">
                <a16:creationId xmlns:a16="http://schemas.microsoft.com/office/drawing/2014/main" id="{E97A2230-B457-99DA-B355-83C8C7AC1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52" y="3933590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0576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F8DD-FF90-4A8C-2FB9-48DAAC56C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BDCCB53-8DBB-065B-5675-F87B2AC0D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02"/>
          <a:stretch>
            <a:fillRect/>
          </a:stretch>
        </p:blipFill>
        <p:spPr>
          <a:xfrm>
            <a:off x="6094956" y="0"/>
            <a:ext cx="7632700" cy="118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41D130-3174-3259-788C-0395E83A2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317F31-8F4F-A649-9610-8363AB1DB738}"/>
              </a:ext>
            </a:extLst>
          </p:cNvPr>
          <p:cNvSpPr txBox="1"/>
          <p:nvPr/>
        </p:nvSpPr>
        <p:spPr>
          <a:xfrm>
            <a:off x="306930" y="1549465"/>
            <a:ext cx="53604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omic Sans MS" panose="030F0702030302020204" pitchFamily="66" charset="0"/>
              </a:rPr>
              <a:t>contains generated traffic forecasts for specific locations and times, including predicted congestion, predicted speed, and confidence score.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B9DF4530-DE85-9A08-83EA-C426B8B1B8A6}"/>
              </a:ext>
            </a:extLst>
          </p:cNvPr>
          <p:cNvSpPr/>
          <p:nvPr/>
        </p:nvSpPr>
        <p:spPr>
          <a:xfrm>
            <a:off x="1599099" y="556727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>
              <a:solidFill>
                <a:schemeClr val="accent2"/>
              </a:solidFill>
              <a:latin typeface="Comic Sans MS" panose="030F0702030302020204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D8928-CA40-3A2E-920B-17664D29DE87}"/>
              </a:ext>
            </a:extLst>
          </p:cNvPr>
          <p:cNvSpPr txBox="1"/>
          <p:nvPr/>
        </p:nvSpPr>
        <p:spPr>
          <a:xfrm>
            <a:off x="306930" y="3277167"/>
            <a:ext cx="53604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omic Sans MS" panose="030F0702030302020204" pitchFamily="66" charset="0"/>
              </a:rPr>
              <a:t>each prediction is generated by one specific model. </a:t>
            </a:r>
          </a:p>
        </p:txBody>
      </p:sp>
      <p:pic>
        <p:nvPicPr>
          <p:cNvPr id="5122" name="Picture 2" descr="Prediction Generic color lineal-color icon | Freepik">
            <a:extLst>
              <a:ext uri="{FF2B5EF4-FFF2-40B4-BE49-F238E27FC236}">
                <a16:creationId xmlns:a16="http://schemas.microsoft.com/office/drawing/2014/main" id="{B5F5C226-0E3F-CEE6-DD59-AAEE2787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52" y="4228535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852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4F86-544C-ECDC-CD3B-3E83245F6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79C159-68CB-B635-19AE-3AD9EF8ED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14"/>
          <a:stretch>
            <a:fillRect/>
          </a:stretch>
        </p:blipFill>
        <p:spPr>
          <a:xfrm>
            <a:off x="6094956" y="-3543300"/>
            <a:ext cx="6097044" cy="1188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4972EB-C436-7149-3D0F-6D84776BE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4F6BEA-24A4-24D3-0806-DAF276CB26A3}"/>
              </a:ext>
            </a:extLst>
          </p:cNvPr>
          <p:cNvSpPr txBox="1"/>
          <p:nvPr/>
        </p:nvSpPr>
        <p:spPr>
          <a:xfrm>
            <a:off x="306930" y="1734980"/>
            <a:ext cx="53604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omic Sans MS" panose="030F0702030302020204" pitchFamily="66" charset="0"/>
              </a:rPr>
              <a:t>records real traffic data for a specific location and time, such as traffic volume, average speed, and congestion level.</a:t>
            </a: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5A859575-F6DA-6060-3EA9-C90AB147B82E}"/>
              </a:ext>
            </a:extLst>
          </p:cNvPr>
          <p:cNvSpPr/>
          <p:nvPr/>
        </p:nvSpPr>
        <p:spPr>
          <a:xfrm>
            <a:off x="1751499" y="709127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800" b="1" dirty="0">
                <a:solidFill>
                  <a:srgbClr val="1F2937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>
              <a:solidFill>
                <a:schemeClr val="accent2"/>
              </a:solidFill>
              <a:latin typeface="Comic Sans MS" panose="030F0702030302020204" pitchFamily="66" charset="0"/>
            </a:endParaRPr>
          </a:p>
        </p:txBody>
      </p:sp>
      <p:pic>
        <p:nvPicPr>
          <p:cNvPr id="3074" name="Picture 2" descr="Traffic jam - Free transportation icons">
            <a:extLst>
              <a:ext uri="{FF2B5EF4-FFF2-40B4-BE49-F238E27FC236}">
                <a16:creationId xmlns:a16="http://schemas.microsoft.com/office/drawing/2014/main" id="{4DB0F4D0-684F-88D9-A54C-EFC996DB9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52" y="3343274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527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6A0C-654B-13B7-D442-A243FAD7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1B7010B-71A0-D285-6A2F-6AF1746D4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750" y="-5699594"/>
            <a:ext cx="9900000" cy="118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003483F-A807-BB50-77DA-C52FE5AF0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F7BE3-8919-F994-CC06-C219F2995146}"/>
              </a:ext>
            </a:extLst>
          </p:cNvPr>
          <p:cNvSpPr txBox="1"/>
          <p:nvPr/>
        </p:nvSpPr>
        <p:spPr>
          <a:xfrm>
            <a:off x="306930" y="1797784"/>
            <a:ext cx="53604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omic Sans MS" panose="030F0702030302020204" pitchFamily="66" charset="0"/>
              </a:rPr>
              <a:t>contains information about traffic-related events that may influence road conditions, such as accidents or roadworks, together with their severity and duration.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B8D2DCE-DA33-51EB-582A-5D75F428D297}"/>
              </a:ext>
            </a:extLst>
          </p:cNvPr>
          <p:cNvSpPr/>
          <p:nvPr/>
        </p:nvSpPr>
        <p:spPr>
          <a:xfrm>
            <a:off x="1599099" y="556727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>
              <a:solidFill>
                <a:srgbClr val="EDCE98"/>
              </a:solidFill>
              <a:latin typeface="Comic Sans MS" panose="030F0702030302020204" pitchFamily="66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5121681-6EB4-60A7-8CE6-4032BD403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52" y="3724703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300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A2D8-EEF9-D61D-D31E-5C1876A4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A5F21C6-FFFF-0161-5AD9-4C4847A4B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56" y="0"/>
            <a:ext cx="6097044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26F6D5-B67B-F857-76CD-5BC0D6212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916" y="87683"/>
            <a:ext cx="648085" cy="67120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E1ECBC3-6CBB-5CAB-A08A-F25E34214E79}"/>
              </a:ext>
            </a:extLst>
          </p:cNvPr>
          <p:cNvSpPr txBox="1"/>
          <p:nvPr/>
        </p:nvSpPr>
        <p:spPr>
          <a:xfrm>
            <a:off x="442390" y="1089898"/>
            <a:ext cx="49371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omic Sans MS" panose="030F0702030302020204" pitchFamily="66" charset="0"/>
              </a:rPr>
              <a:t>The relationships between these entities reflect the main logic of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000" dirty="0">
              <a:latin typeface="Comic Sans MS" panose="030F0702030302020204" pitchFamily="66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omic Sans MS" panose="030F0702030302020204" pitchFamily="66" charset="0"/>
              </a:rPr>
              <a:t>This structure ensures clear organization of input data and forecasting results while keeping the database simple and suitable for the project scope.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000" dirty="0">
              <a:latin typeface="Comic Sans MS" panose="030F0702030302020204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ic Sans MS" panose="030F0702030302020204" pitchFamily="66" charset="0"/>
              </a:rPr>
              <a:t>The database allows the system to analyze current road conditions and produce forecasts for the next 30–60 minutes.</a:t>
            </a:r>
            <a:endParaRPr lang="en-GB" sz="2000" dirty="0">
              <a:latin typeface="Comic Sans MS" panose="030F0702030302020204" pitchFamily="66" charset="0"/>
            </a:endParaRPr>
          </a:p>
          <a:p>
            <a:pPr lvl="0"/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82329-376C-18F7-F052-AD96D125A48E}"/>
              </a:ext>
            </a:extLst>
          </p:cNvPr>
          <p:cNvSpPr txBox="1"/>
          <p:nvPr/>
        </p:nvSpPr>
        <p:spPr>
          <a:xfrm>
            <a:off x="379956" y="5007173"/>
            <a:ext cx="506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3EB42A7-D8BE-5B3F-2DEC-2DC7C1E818D7}"/>
              </a:ext>
            </a:extLst>
          </p:cNvPr>
          <p:cNvSpPr/>
          <p:nvPr/>
        </p:nvSpPr>
        <p:spPr>
          <a:xfrm>
            <a:off x="1599099" y="556727"/>
            <a:ext cx="2776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rgbClr val="1F2937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28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8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2800" b="1" dirty="0">
                <a:solidFill>
                  <a:srgbClr val="EDCE9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>
              <a:solidFill>
                <a:srgbClr val="7E8795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755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514B94-01B8-D638-A6DA-050AD21913D0}"/>
              </a:ext>
            </a:extLst>
          </p:cNvPr>
          <p:cNvSpPr txBox="1"/>
          <p:nvPr/>
        </p:nvSpPr>
        <p:spPr>
          <a:xfrm>
            <a:off x="2572011" y="1166842"/>
            <a:ext cx="70479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9600" b="1" dirty="0">
                <a:solidFill>
                  <a:srgbClr val="E8C07A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 f</a:t>
            </a:r>
            <a:r>
              <a:rPr lang="en-US" sz="9600" b="1" dirty="0">
                <a:solidFill>
                  <a:srgbClr val="E8C07A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9600" b="1" dirty="0">
                <a:solidFill>
                  <a:srgbClr val="E8C07A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rgbClr val="E8C07A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9600" b="1" dirty="0">
                <a:solidFill>
                  <a:srgbClr val="E8C07A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9600" b="1" dirty="0">
                <a:solidFill>
                  <a:srgbClr val="7E8795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9600" b="1" dirty="0">
                <a:solidFill>
                  <a:schemeClr val="accent2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9600" b="1" dirty="0">
                <a:solidFill>
                  <a:srgbClr val="74C7C8"/>
                </a:solidFill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 !</a:t>
            </a:r>
            <a:endParaRPr lang="en-US" sz="9600" dirty="0"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9851B4-484E-E4BC-7E2D-786F22D52254}"/>
              </a:ext>
            </a:extLst>
          </p:cNvPr>
          <p:cNvSpPr txBox="1"/>
          <p:nvPr/>
        </p:nvSpPr>
        <p:spPr>
          <a:xfrm>
            <a:off x="2572011" y="6499299"/>
            <a:ext cx="7047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omic Sans MS" panose="030F0702030302020204" pitchFamily="66" charset="0"/>
                <a:ea typeface="Calibri" pitchFamily="34" charset="-122"/>
                <a:cs typeface="Calibri" pitchFamily="34" charset="-120"/>
              </a:rPr>
              <a:t>Team SMART-JAM</a:t>
            </a:r>
            <a:endParaRPr 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467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331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SMART-JAM</dc:creator>
  <cp:lastModifiedBy>d</cp:lastModifiedBy>
  <cp:revision>7</cp:revision>
  <dcterms:created xsi:type="dcterms:W3CDTF">2026-02-25T09:34:47Z</dcterms:created>
  <dcterms:modified xsi:type="dcterms:W3CDTF">2026-03-17T19:06:38Z</dcterms:modified>
</cp:coreProperties>
</file>